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1C86"/>
    <a:srgbClr val="D8BFF7"/>
    <a:srgbClr val="F3ECFF"/>
    <a:srgbClr val="F7F2EF"/>
    <a:srgbClr val="A679DC"/>
    <a:srgbClr val="5E2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9CC3D-A8AE-0D96-858F-CB58D825F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84F7349-01BC-B495-0E14-FF9F97CB8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8EB65B-837F-11D9-185B-54E26AD3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3F0C58-7788-AB06-920B-819C6364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22EBD-AA92-C691-54B4-4C72BBB9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86F078-83B2-BD10-4E27-11D941DC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3057C5-4CE2-1667-1A99-1EDBDA849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1FAF29-B031-315E-42C3-8C538499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174C70-1FF7-55C0-98F3-63896F64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38F93E-3471-B960-CE9F-AE5597A9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C61B05-DB1A-C119-EB63-E58BF415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A723BD-7BFD-25D5-5663-EBB2EBE84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AB6CCC-2BEF-698E-9593-D88B7588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02DC4A-B1F8-F6F4-0201-6075D059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15416C-51C0-8DE1-D349-5A0B790E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53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1CA723-B0D8-CE98-FFA2-EE9FB0B5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BD1681-5117-C3B9-A6EA-EDFD7A2D3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6FBC5E-9ED3-B2DC-58CC-243D0A9A5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87EE8AF-3CE4-C8EF-4ACE-B9353154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1E9E1A-DD50-52ED-EADD-2059ACA2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07647B-FE2E-E29A-7E80-EF202DCC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17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F6A76-9D3C-FD15-FA45-63CA14657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D501544-6085-BF80-F7B6-1229EB8CB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5685333-1635-D1A2-0FB4-88324F443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6A5BF0F-929D-2CC9-AB91-7D570CE11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64CBB2D-6FC0-46AE-8C06-D5041F863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D12F99-0EDC-4CEE-E53D-F958C576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F900532-D963-AC4D-EE22-22784527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78EF8DA-A06E-7A67-9393-10987950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01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37D142-D6C2-91DF-D5A9-9DE1778A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4C124DB-132A-9831-931E-4AE04B70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5918A6C-2EFB-BEB9-10A6-3E7C1E0B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FDC861-9AC2-493C-E43F-A6FB80D8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60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95A6D80-A918-2E3C-F158-E5E9C462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69F6215-F12B-5EC7-A01F-2EAF99B7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B9888D-0B1C-EAA0-997E-C3D0F2AA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61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08031A-CC30-28D1-E091-7CC21723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B57C39-4F3A-BA33-7F30-66655D02D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E6B986C-1864-0C79-D661-E9304AA6F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0F9CECA-9AAC-A2FD-CAF1-179FCA3B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82CCEE-A8D1-6F76-9784-F4533BAB8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668C342-2520-C541-3F7A-63CC2603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75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7C73B6-D7C9-9EBE-A0ED-491FCFD3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859E39B-691B-BE1E-8FC1-A164ED38D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72A849-4EAB-4BF8-EA05-4518C173E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6E800-139B-048E-6ED2-43AEABD7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B506B6D-1B74-5843-4344-08969FBA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2BCD99-1DBB-D784-B854-B4D0CFB1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66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FAFE4B-9BE1-54DE-DDDE-27021BFC6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909985E-2A3D-946C-13DC-4E670C38D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4DD84F-3CF3-7CF0-31E5-2F6FEA89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18D617-7DDD-5C4C-72EA-D04EEF71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273F61-0ACA-F9AA-5186-BF3E4A7C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02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D426FEC-33A5-D1F2-E87A-893822967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6AE2DB9-B162-B673-6049-EC50B3532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6BBA66-FDC2-B50E-7CCE-ECD95DCC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41A57-273A-BAD8-4844-374E1894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1AD470-931E-BC33-892E-C2136289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28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199CDC3-5E0B-2355-D61F-A5988E2A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222FB5-0AA6-19F6-33E8-FE15167C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F6A96A-C15F-62E0-5929-2C1BD3D48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C287B-9EC2-4422-9FAC-2D8FF85DAF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93E80D-8745-79B1-291E-1731D92B9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3270D2-1FDD-8958-E946-F4B00ED2F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63535-0DC0-42B9-8FAA-0E7D2CA3E42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64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62743032-D50D-1B0B-9888-0AAA3F28F7D7}"/>
              </a:ext>
            </a:extLst>
          </p:cNvPr>
          <p:cNvSpPr/>
          <p:nvPr/>
        </p:nvSpPr>
        <p:spPr>
          <a:xfrm>
            <a:off x="5694023" y="0"/>
            <a:ext cx="6497977" cy="6858000"/>
          </a:xfrm>
          <a:prstGeom prst="rect">
            <a:avLst/>
          </a:prstGeom>
          <a:solidFill>
            <a:srgbClr val="A679DC"/>
          </a:solidFill>
          <a:ln>
            <a:solidFill>
              <a:srgbClr val="F3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C7C9A4-0647-54D3-9A5B-F840D1162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480" y="1051898"/>
            <a:ext cx="4436642" cy="1818814"/>
          </a:xfrm>
        </p:spPr>
        <p:txBody>
          <a:bodyPr>
            <a:normAutofit/>
          </a:bodyPr>
          <a:lstStyle/>
          <a:p>
            <a:r>
              <a:rPr lang="en-GB" sz="7200" b="1" dirty="0" err="1">
                <a:solidFill>
                  <a:srgbClr val="4A1C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EzParking</a:t>
            </a:r>
            <a:endParaRPr lang="en-GB" sz="7200" b="1" dirty="0">
              <a:solidFill>
                <a:srgbClr val="4A1C8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magine 4" descr="Immagine che contiene ruota, veicolo, clipart, automobile&#10;&#10;Il contenuto generato dall'IA potrebbe non essere corretto.">
            <a:extLst>
              <a:ext uri="{FF2B5EF4-FFF2-40B4-BE49-F238E27FC236}">
                <a16:creationId xmlns:a16="http://schemas.microsoft.com/office/drawing/2014/main" id="{95E4C75B-AA14-1DB7-46B6-2AAC19B54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831" y="591820"/>
            <a:ext cx="5674360" cy="567436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818691-77E4-7B63-79E6-66E3872DF37B}"/>
              </a:ext>
            </a:extLst>
          </p:cNvPr>
          <p:cNvSpPr txBox="1"/>
          <p:nvPr/>
        </p:nvSpPr>
        <p:spPr>
          <a:xfrm>
            <a:off x="1257381" y="2870712"/>
            <a:ext cx="2998839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1C86"/>
                </a:solidFill>
              </a:rPr>
              <a:t>Matteo </a:t>
            </a:r>
            <a:r>
              <a:rPr lang="en-GB" b="1" dirty="0" err="1">
                <a:solidFill>
                  <a:srgbClr val="4A1C86"/>
                </a:solidFill>
              </a:rPr>
              <a:t>Ventali</a:t>
            </a:r>
            <a:r>
              <a:rPr lang="en-GB" b="1" dirty="0">
                <a:solidFill>
                  <a:srgbClr val="4A1C86"/>
                </a:solidFill>
              </a:rPr>
              <a:t> </a:t>
            </a:r>
            <a:r>
              <a:rPr lang="en-GB" dirty="0">
                <a:solidFill>
                  <a:srgbClr val="4A1C86"/>
                </a:solidFill>
              </a:rPr>
              <a:t>1985026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1C86"/>
                </a:solidFill>
              </a:rPr>
              <a:t>Valerio Spagnoli </a:t>
            </a:r>
            <a:r>
              <a:rPr lang="it-IT" dirty="0">
                <a:solidFill>
                  <a:srgbClr val="4A1C86"/>
                </a:solidFill>
              </a:rPr>
              <a:t>1973484</a:t>
            </a:r>
            <a:endParaRPr lang="en-GB" dirty="0">
              <a:solidFill>
                <a:srgbClr val="4A1C86"/>
              </a:solidFill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1C86"/>
                </a:solidFill>
              </a:rPr>
              <a:t>Serena Ragaglia </a:t>
            </a:r>
            <a:r>
              <a:rPr lang="en-GB" dirty="0">
                <a:solidFill>
                  <a:srgbClr val="4A1C86"/>
                </a:solidFill>
              </a:rPr>
              <a:t>1941007</a:t>
            </a:r>
          </a:p>
          <a:p>
            <a:pPr>
              <a:lnSpc>
                <a:spcPct val="150000"/>
              </a:lnSpc>
            </a:pPr>
            <a:r>
              <a:rPr lang="en-GB" b="1" dirty="0" err="1">
                <a:solidFill>
                  <a:srgbClr val="4A1C86"/>
                </a:solidFill>
              </a:rPr>
              <a:t>Pierluca</a:t>
            </a:r>
            <a:r>
              <a:rPr lang="en-GB" b="1" dirty="0">
                <a:solidFill>
                  <a:srgbClr val="4A1C86"/>
                </a:solidFill>
              </a:rPr>
              <a:t> Grasso </a:t>
            </a:r>
            <a:r>
              <a:rPr lang="it-IT" dirty="0">
                <a:solidFill>
                  <a:srgbClr val="4A1C86"/>
                </a:solidFill>
              </a:rPr>
              <a:t>1950186</a:t>
            </a:r>
            <a:endParaRPr lang="en-GB" dirty="0">
              <a:solidFill>
                <a:srgbClr val="4A1C86"/>
              </a:solidFill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1C86"/>
                </a:solidFill>
              </a:rPr>
              <a:t>Federico De Lullo </a:t>
            </a:r>
            <a:r>
              <a:rPr lang="it-IT" dirty="0">
                <a:solidFill>
                  <a:srgbClr val="4A1C86"/>
                </a:solidFill>
              </a:rPr>
              <a:t>1935510</a:t>
            </a:r>
            <a:endParaRPr lang="en-GB" dirty="0">
              <a:solidFill>
                <a:srgbClr val="4A1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408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3EAE70CA-726C-AE75-6434-73152B4344D6}"/>
              </a:ext>
            </a:extLst>
          </p:cNvPr>
          <p:cNvSpPr/>
          <p:nvPr/>
        </p:nvSpPr>
        <p:spPr>
          <a:xfrm>
            <a:off x="0" y="0"/>
            <a:ext cx="7649497" cy="6858000"/>
          </a:xfrm>
          <a:prstGeom prst="rect">
            <a:avLst/>
          </a:prstGeom>
          <a:solidFill>
            <a:srgbClr val="F3ECFF"/>
          </a:solidFill>
          <a:ln>
            <a:solidFill>
              <a:srgbClr val="F3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838B2C-FB84-165A-5A21-54CCF5CEF5B2}"/>
              </a:ext>
            </a:extLst>
          </p:cNvPr>
          <p:cNvSpPr txBox="1"/>
          <p:nvPr/>
        </p:nvSpPr>
        <p:spPr>
          <a:xfrm>
            <a:off x="609600" y="247159"/>
            <a:ext cx="3726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Initial Idea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782621A-ABA2-A82A-F0A7-6C8B4E608A1B}"/>
              </a:ext>
            </a:extLst>
          </p:cNvPr>
          <p:cNvSpPr txBox="1"/>
          <p:nvPr/>
        </p:nvSpPr>
        <p:spPr>
          <a:xfrm>
            <a:off x="860322" y="1325315"/>
            <a:ext cx="5928851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objective of this project is to create a distributed parking sharing application that enables users to find and share parking spaces in urban areas with minimal reliance on centralized servers. The system fosters a community-driven approach to solving the challenge of: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finding</a:t>
            </a:r>
            <a:r>
              <a:rPr lang="en-US" dirty="0"/>
              <a:t> available parking,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reducing</a:t>
            </a:r>
            <a:r>
              <a:rPr lang="en-US" dirty="0"/>
              <a:t> traffic congestion and environmental impact,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promoting</a:t>
            </a:r>
            <a:r>
              <a:rPr lang="en-US" dirty="0"/>
              <a:t> collaboration among users. </a:t>
            </a:r>
          </a:p>
          <a:p>
            <a:pPr>
              <a:lnSpc>
                <a:spcPct val="150000"/>
              </a:lnSpc>
            </a:pPr>
            <a:r>
              <a:rPr lang="en-US" dirty="0"/>
              <a:t>By leveraging a distributed architecture, the application ensures </a:t>
            </a:r>
            <a:r>
              <a:rPr lang="en-US" b="1" dirty="0"/>
              <a:t>scalability</a:t>
            </a:r>
            <a:r>
              <a:rPr lang="en-US" dirty="0"/>
              <a:t>, </a:t>
            </a:r>
            <a:r>
              <a:rPr lang="en-US" b="1" dirty="0"/>
              <a:t>reliability</a:t>
            </a:r>
            <a:r>
              <a:rPr lang="en-US" dirty="0"/>
              <a:t>, and </a:t>
            </a:r>
            <a:r>
              <a:rPr lang="en-US" b="1" dirty="0"/>
              <a:t>privacy</a:t>
            </a:r>
            <a:r>
              <a:rPr lang="en-US" dirty="0"/>
              <a:t>.</a:t>
            </a:r>
            <a:endParaRPr lang="en-GB" dirty="0"/>
          </a:p>
        </p:txBody>
      </p:sp>
      <p:pic>
        <p:nvPicPr>
          <p:cNvPr id="5" name="Elemento grafico 4" descr="Luci accese contorno">
            <a:extLst>
              <a:ext uri="{FF2B5EF4-FFF2-40B4-BE49-F238E27FC236}">
                <a16:creationId xmlns:a16="http://schemas.microsoft.com/office/drawing/2014/main" id="{46CAE270-D9C4-4F84-0A11-734ACF98F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0055" y="1489505"/>
            <a:ext cx="3878990" cy="387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3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e 12">
            <a:extLst>
              <a:ext uri="{FF2B5EF4-FFF2-40B4-BE49-F238E27FC236}">
                <a16:creationId xmlns:a16="http://schemas.microsoft.com/office/drawing/2014/main" id="{F3324C15-EA4A-342F-3DB9-D8D32B3183BC}"/>
              </a:ext>
            </a:extLst>
          </p:cNvPr>
          <p:cNvSpPr/>
          <p:nvPr/>
        </p:nvSpPr>
        <p:spPr>
          <a:xfrm>
            <a:off x="4158533" y="775306"/>
            <a:ext cx="5122607" cy="4994787"/>
          </a:xfrm>
          <a:prstGeom prst="ellipse">
            <a:avLst/>
          </a:prstGeom>
          <a:solidFill>
            <a:srgbClr val="4A1C86"/>
          </a:solidFill>
          <a:ln>
            <a:solidFill>
              <a:srgbClr val="4A1C8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62842863-E2B7-DDA5-8369-E6B434087A95}"/>
              </a:ext>
            </a:extLst>
          </p:cNvPr>
          <p:cNvSpPr/>
          <p:nvPr/>
        </p:nvSpPr>
        <p:spPr>
          <a:xfrm>
            <a:off x="3622676" y="775307"/>
            <a:ext cx="5122607" cy="4994787"/>
          </a:xfrm>
          <a:prstGeom prst="ellipse">
            <a:avLst/>
          </a:prstGeom>
          <a:solidFill>
            <a:srgbClr val="D8BFF7"/>
          </a:solidFill>
          <a:ln>
            <a:solidFill>
              <a:srgbClr val="D8BF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04B76ECD-AE7B-B6B8-F03A-DBD441921068}"/>
              </a:ext>
            </a:extLst>
          </p:cNvPr>
          <p:cNvSpPr/>
          <p:nvPr/>
        </p:nvSpPr>
        <p:spPr>
          <a:xfrm>
            <a:off x="2998328" y="775307"/>
            <a:ext cx="5122607" cy="4994787"/>
          </a:xfrm>
          <a:prstGeom prst="ellipse">
            <a:avLst/>
          </a:prstGeom>
          <a:solidFill>
            <a:srgbClr val="F3ECFF"/>
          </a:solidFill>
          <a:ln>
            <a:solidFill>
              <a:srgbClr val="F3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82EC7B7-9FB0-49CA-8C4D-C8BAAA12825A}"/>
              </a:ext>
            </a:extLst>
          </p:cNvPr>
          <p:cNvSpPr txBox="1"/>
          <p:nvPr/>
        </p:nvSpPr>
        <p:spPr>
          <a:xfrm>
            <a:off x="3730832" y="2118538"/>
            <a:ext cx="36575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dirty="0">
                <a:solidFill>
                  <a:srgbClr val="4A1C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Stories</a:t>
            </a:r>
          </a:p>
        </p:txBody>
      </p:sp>
    </p:spTree>
    <p:extLst>
      <p:ext uri="{BB962C8B-B14F-4D97-AF65-F5344CB8AC3E}">
        <p14:creationId xmlns:p14="http://schemas.microsoft.com/office/powerpoint/2010/main" val="251809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7361D58-45AC-1E08-E715-D3B8F09149DA}"/>
              </a:ext>
            </a:extLst>
          </p:cNvPr>
          <p:cNvSpPr txBox="1"/>
          <p:nvPr/>
        </p:nvSpPr>
        <p:spPr>
          <a:xfrm>
            <a:off x="629263" y="491613"/>
            <a:ext cx="60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Account </a:t>
            </a:r>
            <a:r>
              <a:rPr lang="en-GB" sz="4800" b="1" dirty="0" err="1">
                <a:solidFill>
                  <a:srgbClr val="4A1C86"/>
                </a:solidFill>
              </a:rPr>
              <a:t>Managment</a:t>
            </a:r>
            <a:endParaRPr lang="en-GB" sz="4800" b="1" dirty="0">
              <a:solidFill>
                <a:srgbClr val="4A1C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97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E5D38FB-9E9C-6112-BC7A-5C7B017C9FCE}"/>
              </a:ext>
            </a:extLst>
          </p:cNvPr>
          <p:cNvSpPr txBox="1"/>
          <p:nvPr/>
        </p:nvSpPr>
        <p:spPr>
          <a:xfrm>
            <a:off x="629263" y="491613"/>
            <a:ext cx="6037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Resident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281677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362258B-242C-84C4-97E1-C1FD18746433}"/>
              </a:ext>
            </a:extLst>
          </p:cNvPr>
          <p:cNvSpPr txBox="1"/>
          <p:nvPr/>
        </p:nvSpPr>
        <p:spPr>
          <a:xfrm>
            <a:off x="629263" y="491613"/>
            <a:ext cx="69120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Parking Search and Driver’s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413193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60AD3A-447C-CAC7-3A20-B4BCD8F39FD8}"/>
              </a:ext>
            </a:extLst>
          </p:cNvPr>
          <p:cNvSpPr txBox="1"/>
          <p:nvPr/>
        </p:nvSpPr>
        <p:spPr>
          <a:xfrm>
            <a:off x="629263" y="491613"/>
            <a:ext cx="6037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Booking and Payment Systems</a:t>
            </a:r>
          </a:p>
        </p:txBody>
      </p:sp>
    </p:spTree>
    <p:extLst>
      <p:ext uri="{BB962C8B-B14F-4D97-AF65-F5344CB8AC3E}">
        <p14:creationId xmlns:p14="http://schemas.microsoft.com/office/powerpoint/2010/main" val="35773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B71641-04A5-6A83-A69D-880074AC5890}"/>
              </a:ext>
            </a:extLst>
          </p:cNvPr>
          <p:cNvSpPr txBox="1"/>
          <p:nvPr/>
        </p:nvSpPr>
        <p:spPr>
          <a:xfrm>
            <a:off x="629263" y="491613"/>
            <a:ext cx="6037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Notification System</a:t>
            </a:r>
          </a:p>
        </p:txBody>
      </p:sp>
    </p:spTree>
    <p:extLst>
      <p:ext uri="{BB962C8B-B14F-4D97-AF65-F5344CB8AC3E}">
        <p14:creationId xmlns:p14="http://schemas.microsoft.com/office/powerpoint/2010/main" val="159380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7A179A4-C274-0111-6484-A4945270D896}"/>
              </a:ext>
            </a:extLst>
          </p:cNvPr>
          <p:cNvSpPr txBox="1"/>
          <p:nvPr/>
        </p:nvSpPr>
        <p:spPr>
          <a:xfrm>
            <a:off x="629263" y="491613"/>
            <a:ext cx="6037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Reputation and Rating Systems</a:t>
            </a:r>
          </a:p>
        </p:txBody>
      </p:sp>
    </p:spTree>
    <p:extLst>
      <p:ext uri="{BB962C8B-B14F-4D97-AF65-F5344CB8AC3E}">
        <p14:creationId xmlns:p14="http://schemas.microsoft.com/office/powerpoint/2010/main" val="47444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B59A6BD-5048-C1AC-EF23-54C58CA19237}"/>
              </a:ext>
            </a:extLst>
          </p:cNvPr>
          <p:cNvSpPr txBox="1"/>
          <p:nvPr/>
        </p:nvSpPr>
        <p:spPr>
          <a:xfrm>
            <a:off x="629263" y="491613"/>
            <a:ext cx="60370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solidFill>
                  <a:srgbClr val="4A1C86"/>
                </a:solidFill>
              </a:rPr>
              <a:t>Admin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883315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118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di Office</vt:lpstr>
      <vt:lpstr>EzParking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Serena Ragaglia</dc:creator>
  <cp:lastModifiedBy>Serena Ragaglia</cp:lastModifiedBy>
  <cp:revision>2</cp:revision>
  <dcterms:created xsi:type="dcterms:W3CDTF">2025-12-10T09:25:55Z</dcterms:created>
  <dcterms:modified xsi:type="dcterms:W3CDTF">2025-12-10T10:23:00Z</dcterms:modified>
</cp:coreProperties>
</file>